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414"/>
                </a:solidFill>
                <a:latin typeface="Helvetica Neue"/>
              </a:defRPr>
            </a:pPr>
            <a:r>
              <a:rPr sz="1200" b="0" i="0" u="none" strike="noStrike">
                <a:solidFill>
                  <a:srgbClr val="141414"/>
                </a:solidFill>
                <a:latin typeface="Helvetica Neue"/>
              </a:rPr>
              <a:t>ARR at Risk by Platform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at risk ($M)</c:v>
                </c:pt>
              </c:strCache>
            </c:strRef>
          </c:tx>
          <c:spPr>
            <a:solidFill>
              <a:srgbClr val="FA582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1414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Software NGFW</c:v>
                  </c:pt>
                  <c:pt idx="1">
                    <c:v>Cloud NGFW</c:v>
                  </c:pt>
                  <c:pt idx="2">
                    <c:v>Hardware NGFW</c:v>
                  </c:pt>
                  <c:pt idx="3">
                    <c:v>SASE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0.7</c:v>
                </c:pt>
                <c:pt idx="2">
                  <c:v>12.8</c:v>
                </c:pt>
                <c:pt idx="3">
                  <c:v>14.3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41414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14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757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INTRODUCTION. Open with your background (~2 min), then land the Technical PM philosophy verbally: (1) Metrics are incentive design - the question is never what can we measure, it is what behavior do we want to pay for; a metric that can be gamed will be gamed. (2) Own the pipeline, not just the deck - I wrote the specs, the SQL, and the tests behind every number shown today; spec-driven, AI-accelerated from Markdown contract to working prototype in days. (3) Evidence over narrative - every figure is recomputed from raw data and enforced by automated tests; if a number cannot be reproduced, it does not ship. Arc for today: the problem with how we measure -&gt; the metric -&gt; how it is built -&gt; does it actually catch things -&gt; what it changes -&gt; decisions and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CONTEXT &amp; PROBLEM. Current state: adoption = consumed / licensed, full stop. It cannot see churn-risk behaviors (spike-and-drop, shelfware) and hides expansion signal (overage), and it breaks on mid-year expansions. The four cards below are the behaviors the new framework must detect - they are injected into the synthetic data at the stated rates so detection can be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TECHNICAL DEEP DIVE (metric design). Why a composite: each axis routes to a different owner. WHY THE WEIGHTS: Utilization gets 0.35 (highest) because it is the most direct proxy for getting the capacity they paid for - the axis closest to renewal dollars. Feature Adoption and Sustained Usage get 0.25 each, deliberately tied: both are quality signals of equal rank - breadth guards against fragile single-feature accounts, durability guards against churn - and I had no evidence to rank one above the other. Time to Value gets 0.15 (lowest) because it is a transient, early-lifecycle signal: it only discriminates in the first ~90 days and then pins at maximum for every mature account - enough weight to make onboarding matter, not enough to distort the picture for the 90% of the book that is past onboarding. The four sum to 1.0 so the score stays interpretable. And all of them are declared tunable parameters: the backtest against historical renewal and NRR (slide 8, ask 4) is the mechanism that either confirms these weights or corrects them - so the defense is not that 35/25/25/15 is provably right, it is that the framework makes the weights an evidence question rather than an opinion. Why absolute thresholds: stability and cross-account comparability, not a curve. If asked why time-to-value uses a meaningful-use floor (10% of license) rather than raw first activity: deployment is not a distinct event in consumption data, and a floor prevents a single test ping from counting as deployed. Mid-year expansion detail if probed: overlap resolution runs in staging - licensed amounts of overlapping entitlements are summed per customer-product-month before any ratio is computed, and a data-quality test asserts the summed license equals the sum of active contracts for every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TECHNICAL DEEP DIVE (architecture + approach defense). Flow mapping if asked: raw = 6 BigQuery tables; staging = overlap resolution (sums concurrently-active contracts) + per-feature scoring vs thresholds; intermediate = utilization curve, breadth, trailing 3-month window, lifetime memory; marts = 4 output tables; dashboard = Streamlit, live BQ or offline CSV, byte-identical (verified). DATA STRATEGY details: Python + Faker, seeded and reproducible; anomaly rates 5% spike-drop, 10% shelfware, 15% overage, 6 overlapping expansions, 5 slow onboarders; behavior labels exist only for validation - detection runs on raw data alone. TRADE-OFFS to defend: batch vs streaming (decision cadence is monthly - latency buys nothing, auditability buys trust); rules vs ML (compensation demands explainability; an ML churn model is roadmap once real outcomes exist to train on - and the backtest doubles as its training-data audit); build vs buy (the metric IS the product decision - buying a health-score tool outsources the incentive design); absolute thresholds vs percentiles (stability, comparability, no re-ranking by peer luck). EVALUATION: 36-test harness runs as a CI gate against live BigQuery; ground-truth tests assert every injected anomaly is caught and no clean account is flagged; business KPI tie = Value-Realized % and net state transitions, validated by renewal/NRR backtest before comp. DETECTION RESULTS (formerly its own slide, keep verbal): shelfware resolves to Shelfware Risk ($16.4M ARR, routed to CS activation); spike &amp; drop resolves to Churn Signal then Lapsed ($12.0M, CS/Account win-back); consistent overage is invisible in the score by design (capped) and caught only by the expansion flag ($20.3M, 15 accounts, GTM); mid-year expansion produces NO false alarm - the dog that did not bark; slow onboarders hit Onboarding Stall then recover. 100% of at-risk ARR traces to an injected anomaly; zero false positives on clean accounts. HARD TRUTHS if asked what surprised me: (1) the first fragility flag gated on scored utilization &gt;= 0.9, which is mathematically equivalent to just 60% raw usage - and the overage cap exempted the heaviest users entirely; verification caught it and the gate now uses raw LUR. (2) Monthly grain made time-to-value effectively binary - the 31-90-day band never fired until slow-onboarder accounts were injected to prove it works. Owning these openly is the argument FOR test-gated metric development. HOW I VALIDATED (four layers, say in this order): (1) Ground truth planted before the model existed - anomalies injected at known rates with hidden labels the pipeline never reads, so detection is earned, not circular. (2) Detection tests against that ground truth - all 10 shelfware accounts resolve to Shelfware Risk, all 5 spike-and-drops to Churn Signal then Lapsed, all 15 overage accounts raise the expansion flag, the 6 mid-year expansions produce NO false alarm, and zero normal accounts are ever flagged. 100% of at-risk ARR maps to a planted anomaly - no unexplained red anywhere. (3) Engineering validation - 36 automated tests run as a gate against live BigQuery, all passing (unit, data quality, schema, integrity, regression, freshness), plus non-fatal cross-env parity between BigQuery and the offline build; offline demo build verified byte-identical to the warehouse pipeline. (4) The honest limit - this proves correctness, not predictiveness; that is exactly why the backtest is ask #1 on the closer. Say this unprompted. TRADE-OFFS I MADE (lead with the first): explainability over sophistication - transparent weighted rules instead of ML because product leaders, CS, and GTM must understand and trust a score that drives their compensation; cost = possibly leaving accuracy on the table; mitigation = backtest calibrates weights, ML is roadmap once real outcomes exist. Batch monthly over real-time (matches decision cadence; cost = cannot see an intra-month collapse). Absolute thresholds over percentiles (a 70 always means the same thing; cost = thresholds are judgment calls until backtested). One composite score over four separate metrics (one number leadership can rally on; cost = averages mask - which is why states and flags exist). ARR-weighted roll-ups over simple averages (dollars outvote counts; cost = small accounts are quieter). Overage capped at 0.8 rather than rewarded (protects the incentive design; cost = slightly penalizes enthusiastic use - the flag routes that upside to GTM instead). Build over buy (a purchased health-score tool would outsource the incentive design, which IS the product decision).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EVALUATION &amp; RESULTS (the numbers). All figures independently recomputed from raw data; identical in BigQuery and offline. At-risk = Shelfware 16.4 + Lapsed 12.0. Signal means: Util .75, FA .46, SUS .83, TTV .86. Plain definitions if asked: shelfware = bought, never meaningfully used; lapsed = was actively used, then usage stopped completely (the tail end of spike-and-drop). On the SASE hypothesis (seats bought ahead of migration): this is a plausible read of the pattern, not a proven cause - the data is synthetic, so say it as a hypothesis and note it is the first thing to verify on real telemetry. Concentration math: SASE Mobile Users 5.9 + Remote Networks 5.4 = 11.3 of 14.3; hardware top-3 models = 53% of 12.8.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EVALUATION &amp; RESULTS (what it changes). Demo cue: switch to the dashboard here - Actions tab is this slide live, with per-account worklists sorted by ARR.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PANEL Q&amp;A. Close on the three asks, in this order: prove it first (backtest), then adopt it, then pay on it - the sequencing itself is a trust argument. WHY NRR (if asked): net revenue retention captures both outcomes the score claims to predict - keeping revenue (renewal) and growing it (expansion). A plain renewal rate only tests the churn side; VRS explicitly claims to spot expansion too (the overage flag feeding the $20.3M Expansion ARR), so NRR is the honest yardstick for both halves. Removed-but-defensible details: weights 35/25/25/15, overage cap 0.8, Value Realized at 70 are all declared tunable parameters - the backtest calibrates them. Roadmap if asked what's next: swap synthetic data for real telemetry (same tables, same 21 tests), segment-aware weights if the backtest demands them, wire worklists into CS/GTM systems. Likely challenges: why not percentiles; why cap at 0.8 not 0.6; what breaks at 10x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- only present if asked about testing. The schema row's war story: during a BigQuery reload, two all-string tables came in with auto-generated column names because header detection failed; a schema test now catches that by name. Regression checksums are how the feature-relabel and slow-onboarder changes were proven surgical. Cross-env parity formalizes the demo-equals-production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18319" t="0" b="0"/>
          <a:stretch/>
        </p:blipFill>
        <p:spPr>
          <a:xfrm>
            <a:off x="5394960" y="365760"/>
            <a:ext cx="6796735" cy="6099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65960" cy="3566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2860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Value Realization Score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37033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North Star for product adoption and customer value capture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548640" y="4526280"/>
            <a:ext cx="4023360" cy="25603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4617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Erin Kim  ·  Principal PM, Product Analytics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5392"/>
            <a:ext cx="1219169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6565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Palo Alto Networks, Inc. All rights reserved. Proprietary and confidential information.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624828"/>
            <a:ext cx="85039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"/>
            <a:ext cx="566928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 We Measure Consumption — Not Value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5392"/>
            <a:ext cx="12191695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565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Palo Alto Networks, Inc. All rights reserved. Proprietary and confidential information.</a:t>
            </a:r>
            <a:endParaRPr lang="en-US" sz="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624828"/>
            <a:ext cx="850392" cy="1554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10241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Today, product adoption is measured on pure monthly consumption — a single ratio that ignores churn-risk behaviors and routinely misses expansion opportunities. </a:t>
            </a:r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goal is a framework that shows whether customers are truly getting value from what they purchased, beyond monthly consumption — which means detecting Spike &amp; Drop, Shelfware, and Consistent Overage, and adjusting correctly for mid-year expansions.</a:t>
            </a:r>
            <a:endParaRPr lang="en-US" sz="1350" dirty="0"/>
          </a:p>
        </p:txBody>
      </p:sp>
      <p:sp>
        <p:nvSpPr>
          <p:cNvPr id="8" name="Shape 3"/>
          <p:cNvSpPr/>
          <p:nvPr/>
        </p:nvSpPr>
        <p:spPr>
          <a:xfrm>
            <a:off x="548640" y="2011680"/>
            <a:ext cx="5349240" cy="19385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548640" y="3909060"/>
            <a:ext cx="5349240" cy="41148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10" name="Text 5"/>
          <p:cNvSpPr/>
          <p:nvPr/>
        </p:nvSpPr>
        <p:spPr>
          <a:xfrm>
            <a:off x="868680" y="2176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Spike &amp; Drop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977640" y="22311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~5% of accounts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868680" y="2633472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Burn 90% of the entitlement in Q1, then flatline. Cumulative utilization calls them a star account — they are churning.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263640" y="2011680"/>
            <a:ext cx="5349240" cy="19385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263640" y="3909060"/>
            <a:ext cx="5349240" cy="41148"/>
          </a:xfrm>
          <a:prstGeom prst="rect">
            <a:avLst/>
          </a:prstGeom>
          <a:solidFill>
            <a:srgbClr val="FFCB06"/>
          </a:solidFill>
          <a:ln/>
        </p:spPr>
      </p:sp>
      <p:sp>
        <p:nvSpPr>
          <p:cNvPr id="15" name="Text 10"/>
          <p:cNvSpPr/>
          <p:nvPr/>
        </p:nvSpPr>
        <p:spPr>
          <a:xfrm>
            <a:off x="6583680" y="2176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Shelfware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692640" y="22311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~10% of accounts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583680" y="2633472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Bought, never turned on. Consumption-only dashboards literally cannot see them — zero rows, zero alarms.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187952"/>
            <a:ext cx="5349240" cy="19385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6085332"/>
            <a:ext cx="5349240" cy="41148"/>
          </a:xfrm>
          <a:prstGeom prst="rect">
            <a:avLst/>
          </a:prstGeom>
          <a:solidFill>
            <a:srgbClr val="00C0E8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43525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Consistent Overage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977640" y="4407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~15% of accounts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68680" y="4809744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at 120%+ of license. A linear metric ranks them healthiest of all — and hides the uncaptured upsell.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63640" y="4187952"/>
            <a:ext cx="5349240" cy="19385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63640" y="6085332"/>
            <a:ext cx="5349240" cy="41148"/>
          </a:xfrm>
          <a:prstGeom prst="rect">
            <a:avLst/>
          </a:prstGeom>
          <a:solidFill>
            <a:srgbClr val="00CC66"/>
          </a:solidFill>
          <a:ln/>
        </p:spPr>
      </p:sp>
      <p:sp>
        <p:nvSpPr>
          <p:cNvPr id="25" name="Text 20"/>
          <p:cNvSpPr/>
          <p:nvPr/>
        </p:nvSpPr>
        <p:spPr>
          <a:xfrm>
            <a:off x="6583680" y="43525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Mid-Year Expansion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692640" y="4407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accounts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583680" y="4809744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second, larger contract mid-year, creating overlapping active entitlements. Naive math double-counts the license and flags a healthy, growing account as shelfware.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"/>
            <a:ext cx="566928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 Value Through Value Realization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5392"/>
            <a:ext cx="12191695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565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Palo Alto Networks, Inc. All rights reserved. Proprietary and confidential information.</a:t>
            </a:r>
            <a:endParaRPr lang="en-US" sz="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624828"/>
            <a:ext cx="850392" cy="1554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14173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VRS = 100 × ( 0.35·Utilization + 0.25·Feature Adoption + 0.25·Sustained Usage + 0.15·Time to Value )</a:t>
            </a:r>
            <a:endParaRPr lang="en-US" sz="1400" dirty="0"/>
          </a:p>
        </p:txBody>
      </p:sp>
      <p:sp>
        <p:nvSpPr>
          <p:cNvPr id="8" name="Shape 3"/>
          <p:cNvSpPr/>
          <p:nvPr/>
        </p:nvSpPr>
        <p:spPr>
          <a:xfrm>
            <a:off x="548640" y="2331720"/>
            <a:ext cx="3822192" cy="868680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9" name="Text 4"/>
          <p:cNvSpPr/>
          <p:nvPr/>
        </p:nvSpPr>
        <p:spPr>
          <a:xfrm>
            <a:off x="658368" y="233172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35%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License Utilization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548640" y="3383280"/>
            <a:ext cx="3730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Depth — consumed ÷ purchased (every active contract summed, so mid-year expansions count correctly), normalized 0–100%. Near-zero consumption exposes shelfware; consumption above the license raises the consistent-overage flag.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480560" y="2331720"/>
            <a:ext cx="2706624" cy="868680"/>
          </a:xfrm>
          <a:prstGeom prst="rect">
            <a:avLst/>
          </a:prstGeom>
          <a:solidFill>
            <a:srgbClr val="C84624"/>
          </a:solidFill>
          <a:ln/>
        </p:spPr>
      </p:sp>
      <p:sp>
        <p:nvSpPr>
          <p:cNvPr id="12" name="Text 7"/>
          <p:cNvSpPr/>
          <p:nvPr/>
        </p:nvSpPr>
        <p:spPr>
          <a:xfrm>
            <a:off x="4590288" y="233172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25%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Adoption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480560" y="3383280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Breadth — average depth across every entitled feature, normalized 0–100%. A flag catches single-feature dependency inside high-utilization accounts.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296912" y="2331720"/>
            <a:ext cx="2706624" cy="868680"/>
          </a:xfrm>
          <a:prstGeom prst="rect">
            <a:avLst/>
          </a:prstGeom>
          <a:solidFill>
            <a:srgbClr val="A51B00"/>
          </a:solidFill>
          <a:ln/>
        </p:spPr>
      </p:sp>
      <p:sp>
        <p:nvSpPr>
          <p:cNvPr id="15" name="Text 10"/>
          <p:cNvSpPr/>
          <p:nvPr/>
        </p:nvSpPr>
        <p:spPr>
          <a:xfrm>
            <a:off x="7406640" y="233172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25%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Sustained Usage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7296912" y="3383280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Durability — recency-weighted usage over the trailing 3 months; detects lack of sustained usage (spike &amp; drop).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113264" y="2331720"/>
            <a:ext cx="1581912" cy="8686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8" name="Text 13"/>
          <p:cNvSpPr/>
          <p:nvPr/>
        </p:nvSpPr>
        <p:spPr>
          <a:xfrm>
            <a:off x="10222992" y="2331720"/>
            <a:ext cx="1362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15%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to Value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0113264" y="3383280"/>
            <a:ext cx="1490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Speed — time to first usage, in ≤30 / 30–90 / 90+ days.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Scores combine by revenue, not by count</a:t>
            </a:r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a customer’s, platform’s, or portfolio’s score is the average of its product scores, weighted by each product’s ARR. A struggling $900K product moves the score 18× more than a healthy $50K add-on.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"/>
            <a:ext cx="566928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Raw Events to One Number, Reproducibly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5392"/>
            <a:ext cx="12191695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565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Palo Alto Networks, Inc. All rights reserved. Proprietary and confidential information.</a:t>
            </a:r>
            <a:endParaRPr lang="en-US" sz="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624828"/>
            <a:ext cx="850392" cy="15544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207008"/>
            <a:ext cx="2139696" cy="1389888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8" name="Text 3"/>
          <p:cNvSpPr/>
          <p:nvPr/>
        </p:nvSpPr>
        <p:spPr>
          <a:xfrm>
            <a:off x="685800" y="13167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RAW TABLES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85800" y="1700784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9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customers, products, entitlements, features, consumption, feature adoption — in BigQuery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2651760" y="1691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2807208" y="1207008"/>
            <a:ext cx="2139696" cy="1389888"/>
          </a:xfrm>
          <a:prstGeom prst="rect">
            <a:avLst/>
          </a:prstGeom>
          <a:solidFill>
            <a:srgbClr val="C84624"/>
          </a:solidFill>
          <a:ln/>
        </p:spPr>
      </p:sp>
      <p:sp>
        <p:nvSpPr>
          <p:cNvPr id="12" name="Text 7"/>
          <p:cNvSpPr/>
          <p:nvPr/>
        </p:nvSpPr>
        <p:spPr>
          <a:xfrm>
            <a:off x="2944368" y="13167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STAGING VIEWS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944368" y="1700784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9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Contract view: merges overlapping contracts into one monthly picture · Feature view: scores each feature against its own benchmark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910328" y="1691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065776" y="1207008"/>
            <a:ext cx="2139696" cy="1389888"/>
          </a:xfrm>
          <a:prstGeom prst="rect">
            <a:avLst/>
          </a:prstGeom>
          <a:solidFill>
            <a:srgbClr val="A51B00"/>
          </a:solidFill>
          <a:ln/>
        </p:spPr>
      </p:sp>
      <p:sp>
        <p:nvSpPr>
          <p:cNvPr id="16" name="Text 11"/>
          <p:cNvSpPr/>
          <p:nvPr/>
        </p:nvSpPr>
        <p:spPr>
          <a:xfrm>
            <a:off x="5202936" y="13167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INTERMEDIATE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202936" y="1700784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9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int_sku_components: the four signals computed per customer × product × month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168896" y="1691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324344" y="1207008"/>
            <a:ext cx="2139696" cy="138988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0" name="Text 15"/>
          <p:cNvSpPr/>
          <p:nvPr/>
        </p:nvSpPr>
        <p:spPr>
          <a:xfrm>
            <a:off x="7461504" y="13167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MARTS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461504" y="1700784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9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SKU scores (VRS + state + flags) · feature detail · customer roll-up · product roll-up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427464" y="1691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9582912" y="1207008"/>
            <a:ext cx="2139696" cy="1389888"/>
          </a:xfrm>
          <a:prstGeom prst="rect">
            <a:avLst/>
          </a:prstGeom>
          <a:solidFill>
            <a:srgbClr val="3A332E"/>
          </a:solidFill>
          <a:ln/>
        </p:spPr>
      </p:sp>
      <p:sp>
        <p:nvSpPr>
          <p:cNvPr id="24" name="Text 19"/>
          <p:cNvSpPr/>
          <p:nvPr/>
        </p:nvSpPr>
        <p:spPr>
          <a:xfrm>
            <a:off x="9720072" y="131673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720072" y="1700784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9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Streamlit — live BigQuery connection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48640" y="3072384"/>
            <a:ext cx="164592" cy="164592"/>
          </a:xfrm>
          <a:prstGeom prst="ellipse">
            <a:avLst/>
          </a:prstGeom>
          <a:solidFill>
            <a:srgbClr val="FA582D"/>
          </a:solidFill>
          <a:ln/>
        </p:spPr>
      </p:sp>
      <p:sp>
        <p:nvSpPr>
          <p:cNvPr id="27" name="Text 22"/>
          <p:cNvSpPr/>
          <p:nvPr/>
        </p:nvSpPr>
        <p:spPr>
          <a:xfrm>
            <a:off x="850392" y="299008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50392" y="3291840"/>
            <a:ext cx="10744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dataset mirrors the real catalog — 19 PANW product models, feature volumes at realistic scale — with the four anomaly behaviors injected at known rates as hidden ground truth. Quality is enforced, not assumed: 36 automated checks verify table schemas, every contract has usage rows, monthly license totals equal the sum of active contracts, and the injected rates are recovered exactly.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48640" y="4206240"/>
            <a:ext cx="164592" cy="164592"/>
          </a:xfrm>
          <a:prstGeom prst="ellipse">
            <a:avLst/>
          </a:prstGeom>
          <a:solidFill>
            <a:srgbClr val="C84624"/>
          </a:solidFill>
          <a:ln/>
        </p:spPr>
      </p:sp>
      <p:sp>
        <p:nvSpPr>
          <p:cNvPr id="30" name="Text 25"/>
          <p:cNvSpPr/>
          <p:nvPr/>
        </p:nvSpPr>
        <p:spPr>
          <a:xfrm>
            <a:off x="850392" y="4123944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850392" y="4425696"/>
            <a:ext cx="10744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signal was built to catch a specific problem: License Utilization catches shelfware and overage, Sustained Usage catches spike &amp; drop, Feature Adoption catches accounts riding on one feature, Time to Value flags slow starts — and mid-year expansions are handled in the contract math. Automated checks confirm every planted problem is caught, with zero false alarms, and every catch is measured in dollars.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48640" y="5340096"/>
            <a:ext cx="164592" cy="164592"/>
          </a:xfrm>
          <a:prstGeom prst="ellipse">
            <a:avLst/>
          </a:prstGeom>
          <a:solidFill>
            <a:srgbClr val="A51B00"/>
          </a:solidFill>
          <a:ln/>
        </p:spPr>
      </p:sp>
      <p:sp>
        <p:nvSpPr>
          <p:cNvPr id="33" name="Text 28"/>
          <p:cNvSpPr/>
          <p:nvPr/>
        </p:nvSpPr>
        <p:spPr>
          <a:xfrm>
            <a:off x="850392" y="5257800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850392" y="5559552"/>
            <a:ext cx="10744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Simple, readable scoring rules instead of machine learning: a usage curve that rewards real use and caps over-use, feature scoring against each feature's normal volume, extra weight on recent months, and a fixed order of rules that gives each account one status. Chosen because this score will drive pay — everyone must see exactly why a number is what it is. ML comes later, to tune the weights once real renewal outcomes exist.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"/>
            <a:ext cx="566928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Portfolio Today — June 2026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5392"/>
            <a:ext cx="12191695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565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Palo Alto Networks, Inc. All rights reserved. Proprietary and confidential information.</a:t>
            </a:r>
            <a:endParaRPr lang="en-US" sz="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624828"/>
            <a:ext cx="850392" cy="1554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10972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$146.5M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548640" y="17373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 ARR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383280" y="10972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70.2</a:t>
            </a:r>
            <a:endParaRPr lang="en-US" sz="3200" dirty="0"/>
          </a:p>
        </p:txBody>
      </p:sp>
      <p:sp>
        <p:nvSpPr>
          <p:cNvPr id="10" name="Text 5"/>
          <p:cNvSpPr/>
          <p:nvPr/>
        </p:nvSpPr>
        <p:spPr>
          <a:xfrm>
            <a:off x="3383280" y="17373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Portfolio VRS (ARR-wtd)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217920" y="10972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51B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$28.4M</a:t>
            </a:r>
            <a:endParaRPr lang="en-US" sz="3200" dirty="0"/>
          </a:p>
        </p:txBody>
      </p:sp>
      <p:sp>
        <p:nvSpPr>
          <p:cNvPr id="12" name="Text 7"/>
          <p:cNvSpPr/>
          <p:nvPr/>
        </p:nvSpPr>
        <p:spPr>
          <a:xfrm>
            <a:off x="6217920" y="17373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 at risk — 19.4%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9052560" y="10972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8A4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$20.3M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9052560" y="17373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Expansion ARR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377440"/>
          <a:ext cx="55778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Shape 10"/>
          <p:cNvSpPr/>
          <p:nvPr/>
        </p:nvSpPr>
        <p:spPr>
          <a:xfrm>
            <a:off x="6446520" y="2532888"/>
            <a:ext cx="164592" cy="164592"/>
          </a:xfrm>
          <a:prstGeom prst="ellipse">
            <a:avLst/>
          </a:prstGeom>
          <a:solidFill>
            <a:srgbClr val="A51B00"/>
          </a:solidFill>
          <a:ln/>
        </p:spPr>
      </p:sp>
      <p:sp>
        <p:nvSpPr>
          <p:cNvPr id="17" name="Text 11"/>
          <p:cNvSpPr/>
          <p:nvPr/>
        </p:nvSpPr>
        <p:spPr>
          <a:xfrm>
            <a:off x="6748272" y="24414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SASE — $14.3M: driven by shelfware and spike &amp; drop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748272" y="273405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$7.6M in shelfware (seats never rolled out) and $6.7M in spike &amp; drop (used early, then went quiet). Nearly all of it is Prisma Access Mobile Users ($5.9M) and Remote Networks ($5.4M) — likely seats bought ahead of migrating users.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446520" y="3483864"/>
            <a:ext cx="164592" cy="164592"/>
          </a:xfrm>
          <a:prstGeom prst="ellipse">
            <a:avLst/>
          </a:prstGeom>
          <a:solidFill>
            <a:srgbClr val="FA582D"/>
          </a:solidFill>
          <a:ln/>
        </p:spPr>
      </p:sp>
      <p:sp>
        <p:nvSpPr>
          <p:cNvPr id="20" name="Text 14"/>
          <p:cNvSpPr/>
          <p:nvPr/>
        </p:nvSpPr>
        <p:spPr>
          <a:xfrm>
            <a:off x="6748272" y="339242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NGFW — $12.8M: mostly shelfware, plus spike &amp; drop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748272" y="36850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$7.9M in shelfware (licenses never activated) and $4.9M in spike &amp; drop (usage stopped completely). Over half sits in just three models — PA-5410, PA-5445, PA-410 — a short, targeted rescue list.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46520" y="4434840"/>
            <a:ext cx="164592" cy="164592"/>
          </a:xfrm>
          <a:prstGeom prst="ellipse">
            <a:avLst/>
          </a:prstGeom>
          <a:solidFill>
            <a:srgbClr val="00AEC4"/>
          </a:solidFill>
          <a:ln/>
        </p:spPr>
      </p:sp>
      <p:sp>
        <p:nvSpPr>
          <p:cNvPr id="23" name="Text 17"/>
          <p:cNvSpPr/>
          <p:nvPr/>
        </p:nvSpPr>
        <p:spPr>
          <a:xfrm>
            <a:off x="6748272" y="434340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Cloud NGFW — $0.7M: mostly shelfware, and Azure lags AWS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748272" y="46360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$0.5M shelfware, $0.2M spike &amp; drop — 19% of its ARR at risk, a bigger share than hardware or software. Azure customers average a score of 60 vs 76 on AWS: fix the Azure path while cloud is small.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46520" y="5385816"/>
            <a:ext cx="164592" cy="164592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6" name="Text 20"/>
          <p:cNvSpPr/>
          <p:nvPr/>
        </p:nvSpPr>
        <p:spPr>
          <a:xfrm>
            <a:off x="6748272" y="529437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Software NGFW — $0.6M: the smallest risk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748272" y="558698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Just 14% of its ARR at risk — the lowest of any platform — from a little shelfware and one spike &amp; drop account. These customers adopt fastest and keep using what they buy.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"/>
            <a:ext cx="566928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Opportunities to Address ARR Risk and Drive Expansion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5392"/>
            <a:ext cx="12191695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565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Palo Alto Networks, Inc. All rights reserved. Proprietary and confidential information.</a:t>
            </a:r>
            <a:endParaRPr lang="en-US" sz="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624828"/>
            <a:ext cx="850392" cy="15544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143000"/>
            <a:ext cx="3520440" cy="265176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548640" y="3753612"/>
            <a:ext cx="3520440" cy="41148"/>
          </a:xfrm>
          <a:prstGeom prst="rect">
            <a:avLst/>
          </a:prstGeom>
          <a:solidFill>
            <a:srgbClr val="FA582D"/>
          </a:solidFill>
          <a:ln/>
        </p:spPr>
      </p:sp>
      <p:sp>
        <p:nvSpPr>
          <p:cNvPr id="9" name="Text 4"/>
          <p:cNvSpPr/>
          <p:nvPr/>
        </p:nvSpPr>
        <p:spPr>
          <a:xfrm>
            <a:off x="822960" y="1371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58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22960" y="1691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$16.4M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822960" y="23042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Shelfware Risk — bought, never deployed. Customer Success runs first-deployment plays; unrescued accounts are flagged renewal risk early.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822960" y="33649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Success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343400" y="1143000"/>
            <a:ext cx="3520440" cy="265176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343400" y="3753612"/>
            <a:ext cx="3520440" cy="41148"/>
          </a:xfrm>
          <a:prstGeom prst="rect">
            <a:avLst/>
          </a:prstGeom>
          <a:solidFill>
            <a:srgbClr val="A51B00"/>
          </a:solidFill>
          <a:ln/>
        </p:spPr>
      </p:sp>
      <p:sp>
        <p:nvSpPr>
          <p:cNvPr id="15" name="Text 10"/>
          <p:cNvSpPr/>
          <p:nvPr/>
        </p:nvSpPr>
        <p:spPr>
          <a:xfrm>
            <a:off x="4617720" y="1371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1B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 BACK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17720" y="1691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$12.0M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4617720" y="23042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Spike &amp; drop — burned early, went dark. Diagnose why usage stopped and build a save plan while the renewal is still winnable.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617720" y="33649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 / Account team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138160" y="1143000"/>
            <a:ext cx="3520440" cy="265176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38160" y="3753612"/>
            <a:ext cx="3520440" cy="41148"/>
          </a:xfrm>
          <a:prstGeom prst="rect">
            <a:avLst/>
          </a:prstGeom>
          <a:solidFill>
            <a:srgbClr val="238A4D"/>
          </a:solidFill>
          <a:ln/>
        </p:spPr>
      </p:sp>
      <p:sp>
        <p:nvSpPr>
          <p:cNvPr id="21" name="Text 16"/>
          <p:cNvSpPr/>
          <p:nvPr/>
        </p:nvSpPr>
        <p:spPr>
          <a:xfrm>
            <a:off x="8412480" y="1371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8A4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UPSELL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412480" y="1691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$20.3M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8412480" y="23042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Expansion flag — consuming past the license. Real demand, currently uncaptured revenue. Hand the list to GTM for capacity true-ups.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412480" y="33649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GTM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114800"/>
            <a:ext cx="11064240" cy="960120"/>
          </a:xfrm>
          <a:prstGeom prst="rect">
            <a:avLst/>
          </a:prstGeom>
          <a:solidFill>
            <a:srgbClr val="F6E4DF"/>
          </a:solidFill>
          <a:ln w="12700">
            <a:solidFill>
              <a:srgbClr val="FDAC9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68680" y="423367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46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— invest in driving feature adoption. </a:t>
            </a:r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is the weakest signal on all 19 product models — customers use about half the features they own. It rarely puts an account at risk by itself; it is what caps healthy accounts near 70 instead of 90 — the biggest headroom on the North Star. Start with guided onboarding, feature-discovery nudges, and “light it up” campaigns for entitled-but-idle features.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48640" y="5230368"/>
            <a:ext cx="11064240" cy="96012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8680" y="5349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SUCCESS &amp; GTM — measure GTM teams on VRS. </a:t>
            </a:r>
            <a:pPr indent="0" marL="0">
              <a:buNone/>
            </a:pPr>
            <a:r>
              <a:rPr lang="en-US" sz="11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Pay on % of ARR in Value Realized and net state improvements — never raw consumption. An overage account credits both teams correctly: CS for healthy adoption (score capped), GTM for the expansion flag.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"/>
            <a:ext cx="566928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Decisions We Need From This Room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5392"/>
            <a:ext cx="12191695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565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Palo Alto Networks, Inc. All rights reserved. Proprietary and confidential information.</a:t>
            </a:r>
            <a:endParaRPr lang="en-US" sz="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624828"/>
            <a:ext cx="850392" cy="15544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618488"/>
            <a:ext cx="420624" cy="420624"/>
          </a:xfrm>
          <a:prstGeom prst="ellipse">
            <a:avLst/>
          </a:prstGeom>
          <a:solidFill>
            <a:srgbClr val="FA582D"/>
          </a:solidFill>
          <a:ln/>
        </p:spPr>
      </p:sp>
      <p:sp>
        <p:nvSpPr>
          <p:cNvPr id="8" name="Text 3"/>
          <p:cNvSpPr/>
          <p:nvPr/>
        </p:nvSpPr>
        <p:spPr>
          <a:xfrm>
            <a:off x="54864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234440" y="15727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Backtest before full rollout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234440" y="19842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 VRS against historical data to confirm that low scores correlate with churned customers, high scores correlate with renewals/expansions.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48640" y="2852928"/>
            <a:ext cx="420624" cy="420624"/>
          </a:xfrm>
          <a:prstGeom prst="ellipse">
            <a:avLst/>
          </a:prstGeom>
          <a:solidFill>
            <a:srgbClr val="FA582D"/>
          </a:solidFill>
          <a:ln/>
        </p:spPr>
      </p:sp>
      <p:sp>
        <p:nvSpPr>
          <p:cNvPr id="12" name="Text 7"/>
          <p:cNvSpPr/>
          <p:nvPr/>
        </p:nvSpPr>
        <p:spPr>
          <a:xfrm>
            <a:off x="548640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234440" y="28072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Adopt VRS as the North Star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234440" y="32186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holistic score to measure if customers are getting value from what they purchased, beyond just consumption.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087368"/>
            <a:ext cx="420624" cy="420624"/>
          </a:xfrm>
          <a:prstGeom prst="ellipse">
            <a:avLst/>
          </a:prstGeom>
          <a:solidFill>
            <a:srgbClr val="FA582D"/>
          </a:solidFill>
          <a:ln/>
        </p:spPr>
      </p:sp>
      <p:sp>
        <p:nvSpPr>
          <p:cNvPr id="16" name="Text 11"/>
          <p:cNvSpPr/>
          <p:nvPr/>
        </p:nvSpPr>
        <p:spPr>
          <a:xfrm>
            <a:off x="54864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234440" y="40416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 incentives to VRS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234440" y="44531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 CS/GTM teams on VRS and compensate them on it.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757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demo: the VRS dashboard — then discussion. Every threshold shown today is a parameter, and every number is reproducible.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"/>
            <a:ext cx="566928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Appendix — How the Pipeline Is Tested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5392"/>
            <a:ext cx="12191695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565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Palo Alto Networks, Inc. All rights reserved. Proprietary and confidential information.</a:t>
            </a:r>
            <a:endParaRPr lang="en-US" sz="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624828"/>
            <a:ext cx="850392" cy="15544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321040"/>
                <a:gridCol w="1097280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6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was tested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6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Checks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624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Unit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75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Scoring logic against planted ground truth: every injected anomaly lands in its intended state or flag, zero false positives on clean accounts — plus curve properties (shelfware scores 0, overage capped at 0.8 and flagged, partial time-to-value only in the 31–90-day band).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13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Data Quality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75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Table health: no orphaned records across any join, unique customer × product × month grain, values in range, no zero licenses, all 12 months present, every contract has usage rows, latest month is current.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Schema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75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Expected columns and types asserted on all 6 raw tables and the scores mart — guards against silent load and auto-detect drift (a failure mode hit once during a BigQuery reload, now caught by name).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Data Integrity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75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Source→target: monthly licensed totals independently recomputed from raw contracts must match the pipeline with zero mismatches — proving mid-year expansion resolution.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Regression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75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Aggregate checksums pinned: total row count, portfolio VRS checksum, latest-month ARR. Any unintended change to existing data fails the run.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Cross-Env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75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Parity between live BigQuery and the offline CSV build: row count, VRS and ARR checksums compared on every run (non-fatal, advisory).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0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2"/>
          <p:cNvSpPr/>
          <p:nvPr/>
        </p:nvSpPr>
        <p:spPr>
          <a:xfrm>
            <a:off x="548640" y="5687568"/>
            <a:ext cx="11064240" cy="713232"/>
          </a:xfrm>
          <a:prstGeom prst="rect">
            <a:avLst/>
          </a:prstGeom>
          <a:solidFill>
            <a:srgbClr val="D6ECD8"/>
          </a:solidFill>
          <a:ln w="12700">
            <a:solidFill>
              <a:srgbClr val="ADD8B1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868680" y="5797296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8A4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Coverage: </a:t>
            </a:r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required anomaly maps to at least one test. 36 fatal assertions + 3 parity checks run as a single gate against live BigQuery — currently 36/36 green.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2026-07-29T21:16:22Z</dcterms:created>
  <dcterms:modified xsi:type="dcterms:W3CDTF">2026-07-29T21:16:22Z</dcterms:modified>
</cp:coreProperties>
</file>