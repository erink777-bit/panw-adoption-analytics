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7"/>
  </p:sldIdLst>
  <p:sldSz cy="6858000" cx="12192000"/>
  <p:notesSz cx="6858000" cy="12192000"/>
  <p:embeddedFontLst>
    <p:embeddedFont>
      <p:font typeface="Helvetica Neue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i2l6yzAosgydHCNoAdu4P+Isg6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font" Target="fonts/HelveticaNeue-regular.fntdata"/><Relationship Id="rId13" Type="http://schemas.openxmlformats.org/officeDocument/2006/relationships/font" Target="fonts/HelveticaNeue-bold.fntdata"/><Relationship Id="rId14" Type="http://schemas.openxmlformats.org/officeDocument/2006/relationships/font" Target="fonts/HelveticaNeue-italic.fntdata"/><Relationship Id="rId15" Type="http://schemas.openxmlformats.org/officeDocument/2006/relationships/font" Target="fonts/HelveticaNeue-boldItalic.fntdata"/><Relationship Id="rId16" Type="http://customschemas.google.com/relationships/presentationmetadata" Target="metadata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CLAUDE: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Write me a script to explain everything I did in order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Tell me how I can test the data - like should I run any sql queries in bq to validate some things?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If you didn’t have AI, how would you test that everything is correct?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What are some lessons learned or things I had to correct with AI generated work? I caught over complicated metrics… simplified for ease of understanding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INTRODUCTION. Open with your background (~2 min), then land the Technical PM philosophy verbally: (1) Metrics are incentive design - the question is never what can we measure, it is what behavior do we want to pay for; a metric that can be gamed will be gamed. (2) Own the pipeline, not just the deck - I wrote the specs, the SQL, and the tests behind every number shown today; spec-driven, AI-accelerated from Markdown contract to working prototype in days. (3) Evidence over narrative - every figure is recomputed from raw data and enforced by automated tests; if a number cannot be reproduced, it does not ship. Arc for today: the problem with how we measure -&gt; the metric -&gt; how it is built -&gt; does it actually catch things -&gt; what it changes -&gt; decisions and discussion.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CONTEXT &amp; PROBLEM. Current state: adoption = consumed / licensed, full stop. It cannot see churn-risk behaviors (spike-and-drop, shelfware) and hides expansion signal (overage), and it breaks on mid-year expansions. The four cards below are the behaviors the new framework must detect - they are injected into the synthetic data at the stated rates so detection can be proven.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TECHNICAL DEEP DIVE (metric design). Why a composite: each axis routes to a different owner. WHY THE WEIGHTS: Utilization gets 0.35 (highest) because it is the most direct proxy for getting the capacity they paid for - the axis closest to renewal dollars. Feature Adoption and Sustained Usage get 0.25 each, deliberately tied: both are quality signals of equal rank - breadth guards against fragile single-feature accounts, durability guards against churn - and I had no evidence to rank one above the other. Time to Value gets 0.15 (lowest) because it is a transient, early-lifecycle signal: it only discriminates in the first ~90 days and then pins at maximum for every mature account - enough weight to make onboarding matter, not enough to distort the picture for the 90% of the book that is past onboarding. The four sum to 1.0 so the score stays interpretable. And all of them are declared tunable parameters: the backtest against historical renewal and NRR (slide 8, ask 4) is the mechanism that either confirms these weights or corrects them - so the defense is not that 35/25/25/15 is provably right, it is that the framework makes the weights an evidence question rather than an opinion. Why absolute thresholds: stability and cross-account comparability, not a curve. If asked why time-to-value uses a meaningful-use floor (10% of license) rather than raw first activity: deployment is not a distinct event in consumption data, and a floor prevents a single test ping from counting as deployed. Mid-year expansion detail if probed: overlap resolution runs in staging - licensed amounts of overlapping entitlements are summed per customer-product-month before any ratio is computed, and a data-quality test asserts the summed license equals the sum of active contracts for every month.</a:t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TECHNICAL DEEP DIVE (architecture + approach defense). Flow mapping if asked: raw = 6 BigQuery tables; staging = overlap resolution (sums concurrently-active contracts) + per-feature scoring vs thresholds; intermediate = utilization curve, breadth, trailing 3-month window, lifetime memory; marts = 4 output tables; dashboard = Streamlit, live BQ or offline CSV, byte-identical (verified). DATA STRATEGY details: Python + Faker, seeded and reproducible; anomaly rates 5% spike-drop, 10% shelfware, 15% overage, 6 overlapping expansions, 5 slow onboarders; behavior labels exist only for validation - detection runs on raw data alone. TRADE-OFFS to defend: batch vs streaming (decision cadence is monthly - latency buys nothing, auditability buys trust); rules vs ML (compensation demands explainability; an ML churn model is roadmap once real outcomes exist to train on - and the backtest doubles as its training-data audit); build vs buy (the metric IS the product decision - buying a health-score tool outsources the incentive design); absolute thresholds vs percentiles (stability, comparability, no re-ranking by peer luck). EVALUATION: 21-test harness runs as a CI gate against live BigQuery; ground-truth tests assert every injected anomaly is caught and no clean account is flagged; business KPI tie = Value-Realized % and net state transitions, validated by renewal/NRR backtest before comp. DETECTION RESULTS (formerly its own slide, keep verbal): shelfware resolves to Shelfware Risk ($16.4M ARR, routed to CS activation); spike &amp; drop resolves to Churn Signal then Lapsed ($12.0M, CS/Account win-back); consistent overage is invisible in the score by design (capped) and caught only by the expansion flag ($20.3M, 15 accounts, GTM); mid-year expansion produces NO false alarm - the dog that did not bark; slow onboarders hit Onboarding Stall then recover. 100% of at-risk ARR traces to an injected anomaly; zero false positives on clean accounts. HARD TRUTHS if asked what surprised me: (1) the first fragility flag gated on scored utilization &gt;= 0.9, which is mathematically equivalent to just 60% raw usage - and the overage cap exempted the heaviest users entirely; verification caught it and the gate now uses raw LUR. (2) Monthly grain made time-to-value effectively binary - the 31-90-day band never fired until slow-onboarder accounts were injected to prove it works. Owning these openly is the argument FOR test-gated metric development. HOW I VALIDATED (four layers, say in this order): (1) Ground truth planted before the model existed - anomalies injected at known rates with hidden labels the pipeline never reads, so detection is earned, not circular. (2) Detection tests against that ground truth - all 10 shelfware accounts resolve to Shelfware Risk, all 5 spike-and-drops to Churn Signal then Lapsed, all 15 overage accounts raise the expansion flag, the 6 mid-year expansions produce NO false alarm, and zero normal accounts are ever flagged. 100% of at-risk ARR maps to a planted anomaly - no unexplained red anywhere. (3) Engineering validation - 21 automated tests run as a gate against live BigQuery, all passing; offline demo build verified byte-identical to the warehouse pipeline. (4) The honest limit - this proves correctness, not predictiveness; that is exactly why the backtest is ask #1 on the closer. Say this unprompted. TRADE-OFFS I MADE (lead with the first): explainability over sophistication - transparent weighted rules instead of ML because product leaders, CS, and GTM must understand and trust a score that drives their compensation; cost = possibly leaving accuracy on the table; mitigation = backtest calibrates weights, ML is roadmap once real outcomes exist. Batch monthly over real-time (matches decision cadence; cost = cannot see an intra-month collapse). Absolute thresholds over percentiles (a 70 always means the same thing; cost = thresholds are judgment calls until backtested). One composite score over four separate metrics (one number leadership can rally on; cost = averages mask - which is why states and flags exist). ARR-weighted roll-ups over simple averages (dollars outvote counts; cost = small accounts are quieter). Overage capped at 0.8 rather than rewarded (protects the incentive design; cost = slightly penalizes enthusiastic use - the flag routes that upside to GTM instead). Build over buy (a purchased health-score tool would outsource the incentive design, which IS the product decision).</a:t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EVALUATION &amp; RESULTS (the numbers). All figures independently recomputed from raw data; identical in BigQuery and offline. At-risk = Shelfware 16.4 + Lapsed 12.0. Signal means: Util .75, FA .46, SUS .83, TTV .86. Plain definitions if asked: shelfware = bought, never meaningfully used; lapsed = was actively used, then usage stopped completely (the tail end of spike-and-drop). On the SASE hypothesis (seats bought ahead of migration): this is a plausible read of the pattern, not a proven cause - the data is synthetic, so say it as a hypothesis and note it is the first thing to verify on real telemetry. Concentration math: SASE Mobile Users 5.9 + Remote Networks 5.4 = 11.3 of 14.3; hardware top-3 models = 53% of 12.8.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EVALUATION &amp; RESULTS (what it changes). Demo cue: switch to the dashboard here - Actions tab is this slide live, with per-account worklists sorted by ARR.</a:t>
            </a:r>
            <a:endParaRPr/>
          </a:p>
        </p:txBody>
      </p:sp>
      <p:sp>
        <p:nvSpPr>
          <p:cNvPr id="148" name="Google Shape;14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PANEL Q&amp;A. Close on the three asks, in this order: prove it first (backtest), then adopt it, then pay on it - the sequencing itself is a trust argument. WHY NRR (if asked): net revenue retention captures both outcomes the score claims to predict - keeping revenue (renewal) and growing it (expansion). A plain renewal rate only tests the churn side; VRS explicitly claims to spot expansion too (the overage flag feeding the $20.3M Expansion ARR), so NRR is the honest yardstick for both halves. Removed-but-defensible details: weights 35/25/25/15, overage cap 0.8, Value Realized at 70 are all declared tunable parameters - the backtest calibrates them. Roadmap if asked what's next: swap synthetic data for real telemetry (same tables, same 21 tests), segment-aware weights if the backtest demands them, wire worklists into CS/GTM systems. Likely challenges: why not percentiles; why cap at 0.8 not 0.6; what breaks at 10x scale.</a:t>
            </a:r>
            <a:endParaRPr/>
          </a:p>
        </p:txBody>
      </p:sp>
      <p:sp>
        <p:nvSpPr>
          <p:cNvPr id="180" name="Google Shape;18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- reference only, do not present unless asked. Exact per-signal math and thresholds. If probed on the feature-volume benchmarks: each feature is judged against its own expected monthly volume, so heavy and light features are comparable. If probed on the 10% meaningful-use floor for TTV: deployment is not a distinct event in consumption data; the floor keeps a single test ping from counting as deployed. Grace period: TTV is null (excluded from weighting) for the first 30 days of a contract, so brand-new accounts are not penalized.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0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18319" t="0"/>
          <a:stretch/>
        </p:blipFill>
        <p:spPr>
          <a:xfrm>
            <a:off x="5394960" y="365760"/>
            <a:ext cx="6796735" cy="6099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" name="Google Shape;1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457200"/>
            <a:ext cx="1965960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548640" y="2286000"/>
            <a:ext cx="6766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Helvetica Neue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Value Realization Score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3703320"/>
            <a:ext cx="6309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4BF"/>
              </a:buClr>
              <a:buSzPts val="1500"/>
              <a:buFont typeface="Helvetica Neue"/>
              <a:buNone/>
            </a:pPr>
            <a:r>
              <a:rPr b="0" i="0" lang="en-US" sz="1500" u="none" cap="none" strike="noStrike">
                <a:solidFill>
                  <a:srgbClr val="C9C4B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North Star for product adoption and customer value capture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526280"/>
            <a:ext cx="4023360" cy="25603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4617720"/>
            <a:ext cx="6309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Erin Kim  ·  Principal PM, Product Analytics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" name="Google Shape;22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" name="Google Shape;24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" name="Google Shape;3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Today We Measure Consumption — Not Value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" name="Google Shape;3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" name="Google Shape;3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"/>
          <p:cNvSpPr/>
          <p:nvPr/>
        </p:nvSpPr>
        <p:spPr>
          <a:xfrm>
            <a:off x="571500" y="1155717"/>
            <a:ext cx="11049000" cy="1095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roduct adoption 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measured by </a:t>
            </a:r>
            <a:r>
              <a:rPr b="1" i="1"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monthly consumption</a:t>
            </a:r>
            <a:r>
              <a:rPr b="1"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misses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churn-risk behaviors and expansion opportunities</a:t>
            </a:r>
            <a:endParaRPr sz="1500">
              <a:solidFill>
                <a:srgbClr val="0F172A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Measuring </a:t>
            </a:r>
            <a:r>
              <a:rPr b="1" i="1" lang="en-US" sz="1500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</a:t>
            </a:r>
            <a:r>
              <a:rPr b="1" i="1" lang="en-US" sz="1500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value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requires a framework that accounts for the scenarios below:</a:t>
            </a:r>
            <a:endParaRPr sz="1500">
              <a:solidFill>
                <a:srgbClr val="0F172A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6" name="Google Shape;36;p2"/>
          <p:cNvGrpSpPr/>
          <p:nvPr/>
        </p:nvGrpSpPr>
        <p:grpSpPr>
          <a:xfrm>
            <a:off x="571500" y="1927192"/>
            <a:ext cx="5334000" cy="1762200"/>
            <a:chOff x="0" y="0"/>
            <a:chExt cx="5334000" cy="1762200"/>
          </a:xfrm>
        </p:grpSpPr>
        <p:sp>
          <p:nvSpPr>
            <p:cNvPr id="37" name="Google Shape;37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FA58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9" name="Google Shape;39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Spike &amp; Drop </a:t>
              </a:r>
              <a:r>
                <a:rPr b="1" lang="en-US" sz="1200">
                  <a:solidFill>
                    <a:srgbClr val="FA582D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~5% of accounts</a:t>
              </a:r>
              <a:endParaRPr b="1" sz="18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016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150"/>
                <a:buFont typeface="Helvetica Neue"/>
                <a:buChar char="●"/>
              </a:pPr>
              <a:r>
                <a:rPr lang="en-US" sz="1150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Burn 90% of entitlement in Q1, then flatline</a:t>
              </a:r>
              <a:endParaRPr sz="1150">
                <a:solidFill>
                  <a:srgbClr val="334155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0162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150"/>
                <a:buFont typeface="Helvetica Neue"/>
                <a:buChar char="●"/>
              </a:pPr>
              <a:r>
                <a:rPr lang="en-US" sz="1150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Healthy cumulative utilization hides churn risk</a:t>
              </a:r>
              <a:endParaRPr sz="1150">
                <a:solidFill>
                  <a:srgbClr val="334155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0" name="Google Shape;40;p2"/>
          <p:cNvGrpSpPr/>
          <p:nvPr/>
        </p:nvGrpSpPr>
        <p:grpSpPr>
          <a:xfrm>
            <a:off x="6286500" y="1927193"/>
            <a:ext cx="5334000" cy="1762200"/>
            <a:chOff x="0" y="0"/>
            <a:chExt cx="5334000" cy="1762200"/>
          </a:xfrm>
        </p:grpSpPr>
        <p:sp>
          <p:nvSpPr>
            <p:cNvPr id="41" name="Google Shape;41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C8462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Shelfware </a:t>
              </a:r>
              <a:r>
                <a:rPr b="1" i="0" lang="en-US" sz="1200" u="none" strike="noStrike">
                  <a:solidFill>
                    <a:srgbClr val="C8462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~10% of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Licenses purchased but never activated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Missed entirely by consumption-only dashboards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571500" y="3927443"/>
            <a:ext cx="5334000" cy="1762200"/>
            <a:chOff x="0" y="0"/>
            <a:chExt cx="5334000" cy="1762200"/>
          </a:xfrm>
        </p:grpSpPr>
        <p:sp>
          <p:nvSpPr>
            <p:cNvPr id="45" name="Google Shape;45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A51B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Consistent Overage </a:t>
              </a:r>
              <a:r>
                <a:rPr b="1" i="0" lang="en-US" sz="1200" u="none" strike="noStrike">
                  <a:solidFill>
                    <a:srgbClr val="A51B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~15% of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Consumes 120%+ of purchased license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Hides massive uncaptured upsell potential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8" name="Google Shape;48;p2"/>
          <p:cNvGrpSpPr/>
          <p:nvPr/>
        </p:nvGrpSpPr>
        <p:grpSpPr>
          <a:xfrm>
            <a:off x="6286500" y="3927443"/>
            <a:ext cx="5334000" cy="1762200"/>
            <a:chOff x="0" y="0"/>
            <a:chExt cx="5334000" cy="1762200"/>
          </a:xfrm>
        </p:grpSpPr>
        <p:sp>
          <p:nvSpPr>
            <p:cNvPr id="49" name="Google Shape;49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Mid-Year Expansion </a:t>
              </a:r>
              <a:r>
                <a:rPr b="1" i="0" lang="en-US" sz="1200" u="none" strike="noStrike">
                  <a:solidFill>
                    <a:srgbClr val="14141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6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Overlapping contracts create active entitlement noise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Incorrectly flags healthy accounts as shelfware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"/>
          <p:cNvSpPr/>
          <p:nvPr/>
        </p:nvSpPr>
        <p:spPr>
          <a:xfrm>
            <a:off x="445493" y="4955436"/>
            <a:ext cx="10896600" cy="74190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preencoded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 Value Through Value Realization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3"/>
          <p:cNvSpPr/>
          <p:nvPr/>
        </p:nvSpPr>
        <p:spPr>
          <a:xfrm>
            <a:off x="548640" y="1417320"/>
            <a:ext cx="11064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VRS = 100 × ( 0.35·</a:t>
            </a:r>
            <a:r>
              <a:rPr b="1" i="0" lang="en-US" sz="1400" u="none" cap="none" strike="noStrike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Utilization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+ 0.25·</a:t>
            </a:r>
            <a:r>
              <a:rPr b="1" i="0" lang="en-US" sz="140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Adoption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+ 0.25·</a:t>
            </a:r>
            <a:r>
              <a:rPr b="1" i="0" lang="en-US" sz="14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Sustained Usage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+ 0.15·Time to Value )</a:t>
            </a:r>
            <a:endParaRPr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48640" y="1948725"/>
            <a:ext cx="3822300" cy="868800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58368" y="1948725"/>
            <a:ext cx="3602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License Utilization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48640" y="2964380"/>
            <a:ext cx="37308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Depth: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Consumed ÷ purchased, normalized 0–100% (accounting for mid-year expansions)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Shelfware: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Near-zero consumption exposes inactive licenses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Overage: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Usage above license raises an overage flag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480560" y="1948725"/>
            <a:ext cx="2706600" cy="868800"/>
          </a:xfrm>
          <a:prstGeom prst="rect">
            <a:avLst/>
          </a:prstGeom>
          <a:solidFill>
            <a:srgbClr val="C846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90288" y="1948725"/>
            <a:ext cx="2487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Adoption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480560" y="2964380"/>
            <a:ext cx="2615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Breadth: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Average adoption depth across all entitled features (0–100%)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Single-Feature Risk: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Identifies narrow usage in high-utilization accounts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7296912" y="1948725"/>
            <a:ext cx="2706600" cy="868800"/>
          </a:xfrm>
          <a:prstGeom prst="rect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7406640" y="1948725"/>
            <a:ext cx="2487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Sustained Usage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296912" y="2964380"/>
            <a:ext cx="2615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Durability: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Recency-weighted usage over trailing 3 months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Consistency: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Flags short-term usage spikes followed by immediate drops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0113264" y="1948725"/>
            <a:ext cx="1581900" cy="8688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0222992" y="1948725"/>
            <a:ext cx="13626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Helvetica Neu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15%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Time to Value</a:t>
            </a:r>
            <a:endParaRPr i="0" sz="15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0113264" y="2964380"/>
            <a:ext cx="14904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Speed: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Days to first active usage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Milestones: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Segmented by ≤30, 30–90, and 90+ days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548640" y="5120640"/>
            <a:ext cx="1106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4624"/>
              </a:buClr>
              <a:buSzPts val="1250"/>
              <a:buFont typeface="Helvetica Neue"/>
              <a:buNone/>
            </a:pPr>
            <a:r>
              <a:rPr b="1" lang="en-US" sz="1350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Weighted by ARR</a:t>
            </a:r>
            <a:r>
              <a:rPr i="0" lang="en-US" sz="13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— S</a:t>
            </a:r>
            <a:r>
              <a:rPr lang="en-US" sz="13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core is weighted by the ARR of each product purchased, rolled up to customer, platform, and portfolio score </a:t>
            </a:r>
            <a:endParaRPr i="0" sz="135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8640" y="6053328"/>
            <a:ext cx="960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06B69"/>
                </a:solidFill>
                <a:latin typeface="Arial"/>
              </a:rPr>
              <a:t>VRS BANDS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600200" y="5961888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D7A52"/>
                </a:solidFill>
                <a:latin typeface="Arial"/>
              </a:rPr>
              <a:t>Value Realized · 70–100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05656" y="5961888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F9E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8A6D1F"/>
                </a:solidFill>
                <a:latin typeface="Arial"/>
              </a:rPr>
              <a:t>Developing · 50–69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611112" y="5961888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FA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B25E24"/>
                </a:solidFill>
                <a:latin typeface="Arial"/>
              </a:rPr>
              <a:t>At Risk · 30–49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116568" y="5961888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F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B0433A"/>
                </a:solidFill>
                <a:latin typeface="Arial"/>
              </a:rPr>
              <a:t>Critical · 0–29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2" name="Google Shape;8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4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From Raw Events to One Number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4" name="Google Shape;8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4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6" name="Google Shape;8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4"/>
          <p:cNvGrpSpPr/>
          <p:nvPr/>
        </p:nvGrpSpPr>
        <p:grpSpPr>
          <a:xfrm>
            <a:off x="548640" y="1207008"/>
            <a:ext cx="11129772" cy="1428900"/>
            <a:chOff x="548640" y="1207008"/>
            <a:chExt cx="11129772" cy="1428900"/>
          </a:xfrm>
        </p:grpSpPr>
        <p:sp>
          <p:nvSpPr>
            <p:cNvPr id="88" name="Google Shape;88;p4"/>
            <p:cNvSpPr/>
            <p:nvPr/>
          </p:nvSpPr>
          <p:spPr>
            <a:xfrm>
              <a:off x="548640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FA58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4"/>
            <p:cNvSpPr txBox="1"/>
            <p:nvPr/>
          </p:nvSpPr>
          <p:spPr>
            <a:xfrm>
              <a:off x="685800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6 RAW TABLES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customers, products, entitlements, features, consumption, feature adoption — in BigQuery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0" name="Google Shape;90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643188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91;p4"/>
            <p:cNvSpPr/>
            <p:nvPr/>
          </p:nvSpPr>
          <p:spPr>
            <a:xfrm>
              <a:off x="2807208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C8462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4"/>
            <p:cNvSpPr txBox="1"/>
            <p:nvPr/>
          </p:nvSpPr>
          <p:spPr>
            <a:xfrm>
              <a:off x="2944368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2 STAGING VIEWS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Contract view: merges overlapping contracts · Feature view: scores features against benchmarks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3" name="Google Shape;93;p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900613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" name="Google Shape;94;p4"/>
            <p:cNvSpPr/>
            <p:nvPr/>
          </p:nvSpPr>
          <p:spPr>
            <a:xfrm>
              <a:off x="5065776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A51B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4"/>
            <p:cNvSpPr txBox="1"/>
            <p:nvPr/>
          </p:nvSpPr>
          <p:spPr>
            <a:xfrm>
              <a:off x="5202936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1 INTERMEDIATE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Intermediate Table: four signals computed per customer × product × month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6" name="Google Shape;96;p4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158038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4"/>
            <p:cNvSpPr/>
            <p:nvPr/>
          </p:nvSpPr>
          <p:spPr>
            <a:xfrm>
              <a:off x="7324344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14141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4"/>
            <p:cNvSpPr txBox="1"/>
            <p:nvPr/>
          </p:nvSpPr>
          <p:spPr>
            <a:xfrm>
              <a:off x="7461504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4 MARTS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SKU scores (VRS + state + flags) · feature detail · customer/product roll-ups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99" name="Google Shape;99;p4"/>
            <p:cNvSpPr/>
            <p:nvPr/>
          </p:nvSpPr>
          <p:spPr>
            <a:xfrm>
              <a:off x="9582912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3A332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4"/>
            <p:cNvSpPr txBox="1"/>
            <p:nvPr/>
          </p:nvSpPr>
          <p:spPr>
            <a:xfrm>
              <a:off x="9720072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DASHBOARD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Streamlit — live BigQuery connection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01" name="Google Shape;101;p4"/>
          <p:cNvGrpSpPr/>
          <p:nvPr/>
        </p:nvGrpSpPr>
        <p:grpSpPr>
          <a:xfrm>
            <a:off x="548640" y="2952750"/>
            <a:ext cx="11068200" cy="3238500"/>
            <a:chOff x="548640" y="2952750"/>
            <a:chExt cx="11068200" cy="3238500"/>
          </a:xfrm>
        </p:grpSpPr>
        <p:grpSp>
          <p:nvGrpSpPr>
            <p:cNvPr id="102" name="Google Shape;102;p4"/>
            <p:cNvGrpSpPr/>
            <p:nvPr/>
          </p:nvGrpSpPr>
          <p:grpSpPr>
            <a:xfrm>
              <a:off x="548640" y="2952750"/>
              <a:ext cx="3486300" cy="3238500"/>
              <a:chOff x="0" y="0"/>
              <a:chExt cx="3486300" cy="3238500"/>
            </a:xfrm>
          </p:grpSpPr>
          <p:sp>
            <p:nvSpPr>
              <p:cNvPr id="103" name="Google Shape;103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FA582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" name="Google Shape;105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Data Quality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Dataset mirrors real catalog (19 product models at realistic scale)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Four anomaly behaviors injected as hidden ground truth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21 automated checks enforce quality and verify recovery rates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  <p:grpSp>
          <p:nvGrpSpPr>
            <p:cNvPr id="106" name="Google Shape;106;p4"/>
            <p:cNvGrpSpPr/>
            <p:nvPr/>
          </p:nvGrpSpPr>
          <p:grpSpPr>
            <a:xfrm>
              <a:off x="4339590" y="2952750"/>
              <a:ext cx="3486300" cy="3238500"/>
              <a:chOff x="0" y="0"/>
              <a:chExt cx="3486300" cy="3238500"/>
            </a:xfrm>
          </p:grpSpPr>
          <p:sp>
            <p:nvSpPr>
              <p:cNvPr id="107" name="Google Shape;107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C846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" name="Google Shape;109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Design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License Utilization: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Catches shelfware and overage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Sustained Usage: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Catches spike &amp; drop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Feature Adoption: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Flags single-feature dependency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Time to Value: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Flags slow starts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Contract math handles mid-year expansions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  <p:grpSp>
          <p:nvGrpSpPr>
            <p:cNvPr id="110" name="Google Shape;110;p4"/>
            <p:cNvGrpSpPr/>
            <p:nvPr/>
          </p:nvGrpSpPr>
          <p:grpSpPr>
            <a:xfrm>
              <a:off x="8130540" y="2952750"/>
              <a:ext cx="3486300" cy="3238500"/>
              <a:chOff x="0" y="0"/>
              <a:chExt cx="3486300" cy="3238500"/>
            </a:xfrm>
          </p:grpSpPr>
          <p:sp>
            <p:nvSpPr>
              <p:cNvPr id="111" name="Google Shape;111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A51B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Model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Simple, readable scoring rules instead of ML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Usage curve rewards real use and caps over-use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Scores features against normal volume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Applies extra weight on recent months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Fixed rule order gives each account one status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5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Portfolio Today — June 2026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1" name="Google Shape;12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3" name="Google Shape;12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5"/>
          <p:cNvSpPr/>
          <p:nvPr/>
        </p:nvSpPr>
        <p:spPr>
          <a:xfrm>
            <a:off x="54864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$146.5M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4864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ARR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338328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70.2%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338328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Portfolio VRS (ARR)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21792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1B00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$28.4M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21792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ARR at risk — 19.4%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905256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8A4D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238A4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$20.3M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905256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ARR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8640" y="2377440"/>
            <a:ext cx="557784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/>
          <p:nvPr/>
        </p:nvSpPr>
        <p:spPr>
          <a:xfrm>
            <a:off x="6446520" y="2532888"/>
            <a:ext cx="164700" cy="164700"/>
          </a:xfrm>
          <a:prstGeom prst="ellipse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748272" y="2441448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SASE — $14.3M: driven by shelfware and spike &amp; drop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748272" y="2734056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$7.6M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unactivated licenses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mainly Prisma Access MU/RN - likely driven by seats bought ahead of migrating users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$6.7M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early usage and drop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6446520" y="3483864"/>
            <a:ext cx="164700" cy="164700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6748272" y="3392424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Hardware NGFW — $12.8M: mostly shelfware, plus spike &amp; drop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6748272" y="3685032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$7.9M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unactivated licenses 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$4.9M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early usage and drop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concentrated in PA-5410, PA-5445, PA-410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6446520" y="4434840"/>
            <a:ext cx="164700" cy="164700"/>
          </a:xfrm>
          <a:prstGeom prst="ellipse">
            <a:avLst/>
          </a:prstGeom>
          <a:solidFill>
            <a:srgbClr val="00AE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6748272" y="4343400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Cloud NGFW — $0.7M: mostly shelfware, and Azure lags AWS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6748272" y="4636008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19%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of ARR at risk (highest platform share): $0.5M shelfware, $0.2M spike &amp; drop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Azure lags AWS significantly in adoption score (60 vs 76)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6446520" y="5385816"/>
            <a:ext cx="164700" cy="164700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6748272" y="5294376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Software NGFW — $0.6M: the smallest risk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6748272" y="5586984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14%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of ARR at risk (lowest platform risk overall)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High loyalty: these customers adopt fastest and retain what they buy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"/>
          <p:cNvSpPr/>
          <p:nvPr/>
        </p:nvSpPr>
        <p:spPr>
          <a:xfrm>
            <a:off x="548640" y="438912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lang="en-US" sz="27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Call to Action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2" name="Google Shape;15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4" name="Google Shape;15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6"/>
          <p:cNvSpPr/>
          <p:nvPr/>
        </p:nvSpPr>
        <p:spPr>
          <a:xfrm>
            <a:off x="54864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48640" y="3753612"/>
            <a:ext cx="3520440" cy="41148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82296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582D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ACTIVATE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82296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$16.4M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82296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Shelfware Risk — bought, never deployed. Customer Success runs first-deployment plays; flag unrescued accounts </a:t>
            </a:r>
            <a:r>
              <a:rPr lang="en-US" sz="12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as</a:t>
            </a: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renewal risk early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82296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 Success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434340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4343400" y="3753612"/>
            <a:ext cx="3520440" cy="41148"/>
          </a:xfrm>
          <a:prstGeom prst="rect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461772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1B00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WIN BACK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461772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$12.0M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61772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Spike &amp; drop — burned early, went dark. Diagnose why usage stopped and build a save plan while the renewal is still winnable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461772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Account </a:t>
            </a:r>
            <a:r>
              <a:rPr b="1" lang="en-US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</a:t>
            </a: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eams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813816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8138160" y="3753612"/>
            <a:ext cx="3520440" cy="41148"/>
          </a:xfrm>
          <a:prstGeom prst="rect">
            <a:avLst/>
          </a:prstGeom>
          <a:solidFill>
            <a:srgbClr val="238A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841248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8A4D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238A4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UPSELL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841248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$20.3M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841248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flag — consuming past the license. Real demand, currently uncaptured revenue. Hand the list to GTM for capacity true-ups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841248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GTM/Sales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6E4DF"/>
          </a:solidFill>
          <a:ln cap="flat" cmpd="sng" w="12700">
            <a:solidFill>
              <a:srgbClr val="FDAC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868680" y="4233672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4624"/>
              </a:buClr>
              <a:buSzPts val="1150"/>
              <a:buFont typeface="Helvetica Neue"/>
              <a:buNone/>
            </a:pPr>
            <a:r>
              <a:rPr b="1" i="0" lang="en-US" sz="145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 — invest in driving feature adoption</a:t>
            </a:r>
            <a:r>
              <a:rPr b="1" lang="en-US" sz="1450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</a:t>
            </a:r>
            <a:r>
              <a:rPr b="1" i="0" lang="en-US" sz="145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</a:t>
            </a:r>
            <a:r>
              <a:rPr b="0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ustomers use about half the features they own. Start with guided onboarding, feature-discovery nudges, and</a:t>
            </a:r>
            <a:r>
              <a:rPr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b="0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campaigns for entitled-but-idle features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548640" y="5230368"/>
            <a:ext cx="11064240" cy="96012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868680" y="5349240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50"/>
              <a:buFont typeface="Helvetica Neue"/>
              <a:buNone/>
            </a:pPr>
            <a:r>
              <a:rPr b="1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 SUCCESS &amp; GTM — measure GTM teams on VRS</a:t>
            </a:r>
            <a:r>
              <a:rPr b="1"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</a:t>
            </a:r>
            <a:r>
              <a:rPr b="1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Compensate teams on account VRS scores to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incentivize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actions that drive renewals and upsells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 CS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measured on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healthy adoption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and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GTM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 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opportunities 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2" name="Google Shape;18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7"/>
          <p:cNvSpPr/>
          <p:nvPr/>
        </p:nvSpPr>
        <p:spPr>
          <a:xfrm>
            <a:off x="548640" y="438912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Decisions We Need From This Room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6" name="Google Shape;18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7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548640" y="161848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1234440" y="157276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Backtest before full rollout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1234440" y="19842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Validate VRS against historical data to confirm that low scores correlate with churned customers, high scores correlate with renewals/expansions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548640" y="285292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548640" y="285292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1234440" y="28072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Adopt VRS as the North Star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1234440" y="321868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holistic score to measure if customers are getting value from what they purchased, beyond just consumption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48640" y="408736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548640" y="408736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1234440" y="404164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Tie incentives to VRS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1234440" y="445312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 CS/GTM teams on VRS and compensate them on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"/>
          <p:cNvSpPr/>
          <p:nvPr/>
        </p:nvSpPr>
        <p:spPr>
          <a:xfrm>
            <a:off x="445493" y="4955436"/>
            <a:ext cx="10896600" cy="74190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preencoded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Appendix — Signal Calculations and Thresholds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1417320"/>
          <a:ext cx="11091672" cy="3236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77240"/>
                <a:gridCol w="4069080"/>
                <a:gridCol w="432511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Calculation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Thresholds and scoring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License Utilization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consumed ÷ licensed, per customer × product × month; overlapping mid-year contracts are summed before the ratio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&lt; 0.1 → ~0% (shelfware) · rises toward 100% near full use · capped at 80% when above 1.2× (overage flag)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Feature Adoption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average adoption depth across all entitled features; un-adopted features count as 0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per feature vs expected volume: not enabled 0% · idle (&lt;20%) 30% · active (20–80%) 70% · deep (80%+) 100%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Sustained Usage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recency-weighted active months over the trailing 3 (50 / 30 / 20)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all 3 months active → 100% · spike-then-drop → 20% · fully inactive → 0%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Time to Value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days from contract start to first meaningful use (≥ 10% of licensed volume)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D3D3A"/>
                          </a:solidFill>
                          <a:latin typeface="Arial"/>
                        </a:rPr>
                        <a:t>≤ 30 days → 100% · linear decay to 0% at 90 days · never activated → 0% · first 30 days = grace period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029200"/>
            <a:ext cx="11064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414"/>
                </a:solidFill>
                <a:latin typeface="Arial"/>
              </a:rPr>
              <a:t>VRS = 100 × ( 0.35·Utilization + 0.25·Feature Adoption + 0.25·Sustained Usage + 0.15·Time to Value ) — ARR-weighted roll-ups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413248"/>
            <a:ext cx="11064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06B69"/>
                </a:solidFill>
                <a:latin typeface="Arial"/>
              </a:rPr>
              <a:t>Guardrail flags: expansion when utilization &gt; 1.2× · single-feature dependency when Feature Adoption &lt; 25% with utilization ≥ 90%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